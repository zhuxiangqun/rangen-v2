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4"/>
  </p:notesMasterIdLst>
  <p:sldIdLst>
    <p:sldId id="256" r:id="rId3"/>
    <p:sldId id="291" r:id="rId4"/>
    <p:sldId id="290" r:id="rId5"/>
    <p:sldId id="292" r:id="rId6"/>
    <p:sldId id="293" r:id="rId7"/>
    <p:sldId id="312" r:id="rId8"/>
    <p:sldId id="295" r:id="rId9"/>
    <p:sldId id="294" r:id="rId10"/>
    <p:sldId id="296" r:id="rId11"/>
    <p:sldId id="314" r:id="rId12"/>
    <p:sldId id="297" r:id="rId13"/>
    <p:sldId id="298" r:id="rId14"/>
    <p:sldId id="315" r:id="rId15"/>
    <p:sldId id="299" r:id="rId16"/>
    <p:sldId id="300" r:id="rId17"/>
    <p:sldId id="301" r:id="rId18"/>
    <p:sldId id="316" r:id="rId19"/>
    <p:sldId id="317" r:id="rId20"/>
    <p:sldId id="318" r:id="rId21"/>
    <p:sldId id="319" r:id="rId22"/>
    <p:sldId id="302" r:id="rId23"/>
    <p:sldId id="303" r:id="rId24"/>
    <p:sldId id="320" r:id="rId25"/>
    <p:sldId id="304" r:id="rId26"/>
    <p:sldId id="321" r:id="rId27"/>
    <p:sldId id="305" r:id="rId28"/>
    <p:sldId id="322" r:id="rId29"/>
    <p:sldId id="306" r:id="rId30"/>
    <p:sldId id="323" r:id="rId31"/>
    <p:sldId id="307" r:id="rId32"/>
    <p:sldId id="324" r:id="rId33"/>
    <p:sldId id="308" r:id="rId34"/>
    <p:sldId id="325" r:id="rId35"/>
    <p:sldId id="309" r:id="rId36"/>
    <p:sldId id="326" r:id="rId37"/>
    <p:sldId id="310" r:id="rId38"/>
    <p:sldId id="327" r:id="rId39"/>
    <p:sldId id="328" r:id="rId40"/>
    <p:sldId id="311" r:id="rId41"/>
    <p:sldId id="336" r:id="rId42"/>
    <p:sldId id="329" r:id="rId43"/>
    <p:sldId id="337" r:id="rId44"/>
    <p:sldId id="330" r:id="rId45"/>
    <p:sldId id="341" r:id="rId46"/>
    <p:sldId id="331" r:id="rId47"/>
    <p:sldId id="345" r:id="rId48"/>
    <p:sldId id="332" r:id="rId49"/>
    <p:sldId id="342" r:id="rId50"/>
    <p:sldId id="346" r:id="rId51"/>
    <p:sldId id="333" r:id="rId52"/>
    <p:sldId id="347" r:id="rId53"/>
    <p:sldId id="343" r:id="rId54"/>
    <p:sldId id="334" r:id="rId55"/>
    <p:sldId id="348" r:id="rId56"/>
    <p:sldId id="344" r:id="rId57"/>
    <p:sldId id="338" r:id="rId58"/>
    <p:sldId id="349" r:id="rId59"/>
    <p:sldId id="350" r:id="rId60"/>
    <p:sldId id="351" r:id="rId61"/>
    <p:sldId id="340" r:id="rId62"/>
    <p:sldId id="352" r:id="rId63"/>
    <p:sldId id="353" r:id="rId64"/>
    <p:sldId id="354" r:id="rId65"/>
    <p:sldId id="363" r:id="rId66"/>
    <p:sldId id="364" r:id="rId67"/>
    <p:sldId id="365" r:id="rId68"/>
    <p:sldId id="366" r:id="rId69"/>
    <p:sldId id="367" r:id="rId70"/>
    <p:sldId id="368" r:id="rId71"/>
    <p:sldId id="369" r:id="rId72"/>
    <p:sldId id="370" r:id="rId73"/>
    <p:sldId id="371" r:id="rId74"/>
    <p:sldId id="372" r:id="rId75"/>
    <p:sldId id="355" r:id="rId76"/>
    <p:sldId id="356" r:id="rId77"/>
    <p:sldId id="359" r:id="rId78"/>
    <p:sldId id="360" r:id="rId79"/>
    <p:sldId id="361" r:id="rId80"/>
    <p:sldId id="357" r:id="rId81"/>
    <p:sldId id="362" r:id="rId82"/>
    <p:sldId id="358" r:id="rId8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029118200" name="康" initials="康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 showGuides="1">
      <p:cViewPr varScale="1">
        <p:scale>
          <a:sx n="55" d="100"/>
          <a:sy n="55" d="100"/>
        </p:scale>
        <p:origin x="-100" y="-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8" Type="http://schemas.openxmlformats.org/officeDocument/2006/relationships/commentAuthors" Target="commentAuthors.xml"/><Relationship Id="rId87" Type="http://schemas.openxmlformats.org/officeDocument/2006/relationships/tableStyles" Target="tableStyles.xml"/><Relationship Id="rId86" Type="http://schemas.openxmlformats.org/officeDocument/2006/relationships/viewProps" Target="viewProps.xml"/><Relationship Id="rId85" Type="http://schemas.openxmlformats.org/officeDocument/2006/relationships/presProps" Target="presProps.xml"/><Relationship Id="rId84" Type="http://schemas.openxmlformats.org/officeDocument/2006/relationships/notesMaster" Target="notesMasters/notesMaster1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029118200" dt="2025-06-06T10:53:03.185" idx="4">
    <p:pos x="1452" y="3090"/>
    <p:text>这里的 下一页 改成 开始
评估时间15分钟，超时自动结束，并且记录当前分数
改成  请单独在15分钟内完成操作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029118200" dt="2025-06-06T10:16:44.915" idx="13">
    <p:pos x="3074" y="2314"/>
    <p:text>记忆  1分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029118200" dt="2025-06-06T10:09:11.900" idx="6">
    <p:pos x="4994" y="655"/>
    <p:text>如何获取位置信息，机器人定位可能侵犯隐私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029118200" dt="2025-06-06T10:13:20.662" idx="7">
    <p:pos x="3074" y="2314"/>
    <p:text>完成后显示分数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3514-22B0-4E4A-B75D-183151C967F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0C0C-9912-41A7-87CB-0967BBCBCA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3514-22B0-4E4A-B75D-183151C967F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0C0C-9912-41A7-87CB-0967BBCBCA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3514-22B0-4E4A-B75D-183151C967F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0C0C-9912-41A7-87CB-0967BBCBCA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3514-22B0-4E4A-B75D-183151C967F1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0C0C-9912-41A7-87CB-0967BBCBCA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3514-22B0-4E4A-B75D-183151C967F1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0C0C-9912-41A7-87CB-0967BBCBCA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3514-22B0-4E4A-B75D-183151C967F1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0C0C-9912-41A7-87CB-0967BBCBCA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3514-22B0-4E4A-B75D-183151C967F1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0C0C-9912-41A7-87CB-0967BBCBCA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3514-22B0-4E4A-B75D-183151C967F1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0C0C-9912-41A7-87CB-0967BBCBCA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3514-22B0-4E4A-B75D-183151C967F1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0C0C-9912-41A7-87CB-0967BBCBCA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3514-22B0-4E4A-B75D-183151C967F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0C0C-9912-41A7-87CB-0967BBCBCA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3514-22B0-4E4A-B75D-183151C967F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0C0C-9912-41A7-87CB-0967BBCBCA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43514-22B0-4E4A-B75D-183151C967F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20C0C-9912-41A7-87CB-0967BBCBCA65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1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1" Type="http://schemas.openxmlformats.org/officeDocument/2006/relationships/image" Target="../media/image4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1" Type="http://schemas.openxmlformats.org/officeDocument/2006/relationships/image" Target="../media/image4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1" Type="http://schemas.openxmlformats.org/officeDocument/2006/relationships/image" Target="../media/image4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1" Type="http://schemas.openxmlformats.org/officeDocument/2006/relationships/image" Target="../media/image5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1" Type="http://schemas.openxmlformats.org/officeDocument/2006/relationships/image" Target="../media/image7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8724" y="270809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SATURN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认知障碍筛查</a:t>
            </a:r>
            <a:b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3100" dirty="0" smtClean="0">
                <a:latin typeface="Arial" panose="020B0604020202020204" pitchFamily="34" charset="0"/>
                <a:cs typeface="Arial" panose="020B0604020202020204" pitchFamily="34" charset="0"/>
              </a:rPr>
              <a:t>版权所有：南京南德认知健康科技有限公司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26365" y="313296"/>
            <a:ext cx="11938879" cy="3261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请</a:t>
            </a:r>
            <a:r>
              <a:rPr lang="zh-CN" alt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被评估者 阅读下面这句话，并照着做。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7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这主要是检查他或她是否能看懂字体。如果不能</a:t>
            </a:r>
            <a:r>
              <a:rPr lang="en-US" altLang="zh-CN" sz="17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[</a:t>
            </a:r>
            <a:r>
              <a:rPr lang="zh-CN" altLang="en-US" sz="17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即使经过提示和重新引导</a:t>
            </a:r>
            <a:r>
              <a:rPr lang="en-US" altLang="zh-CN" sz="17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]</a:t>
            </a:r>
            <a:r>
              <a:rPr lang="zh-CN" altLang="en-US" sz="17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，</a:t>
            </a:r>
            <a:r>
              <a:rPr lang="zh-CN" altLang="en-US" sz="17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则他</a:t>
            </a:r>
            <a:r>
              <a:rPr lang="en-US" altLang="zh-CN" sz="17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</a:t>
            </a:r>
            <a:r>
              <a:rPr lang="zh-CN" altLang="en-US" sz="17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她不适用该款评估工具。</a:t>
            </a:r>
            <a:endParaRPr lang="zh-CN" altLang="en-US" sz="1700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和苏博士确认后更正：</a:t>
            </a:r>
            <a:endParaRPr lang="zh-CN" alt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不再显示闭上眼睛</a:t>
            </a:r>
            <a:endParaRPr lang="zh-CN" alt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改成</a:t>
            </a:r>
            <a:r>
              <a:rPr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请选择黄色图形</a:t>
            </a:r>
            <a:r>
              <a:rPr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，同时显示黄蓝灰三个圆圈</a:t>
            </a:r>
            <a:endParaRPr lang="zh-CN" alt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555" y="3724318"/>
            <a:ext cx="4681728" cy="2743200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0" y="0"/>
            <a:ext cx="127000" cy="12700"/>
          </a:xfrm>
          <a:prstGeom prst="rect">
            <a:avLst/>
          </a:prstGeom>
        </p:spPr>
      </p:sp>
      <p:pic>
        <p:nvPicPr>
          <p:cNvPr id="4" name="图片 3" descr="微信图片_20250606132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770" y="4076065"/>
            <a:ext cx="3624580" cy="20389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38" y="90283"/>
            <a:ext cx="4681729" cy="2743200"/>
          </a:xfrm>
          <a:prstGeom prst="rect">
            <a:avLst/>
          </a:prstGeom>
        </p:spPr>
      </p:pic>
      <p:sp>
        <p:nvSpPr>
          <p:cNvPr id="6" name="Title 1"/>
          <p:cNvSpPr txBox="1"/>
          <p:nvPr/>
        </p:nvSpPr>
        <p:spPr>
          <a:xfrm>
            <a:off x="375138" y="3206187"/>
            <a:ext cx="11441724" cy="3651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该屏幕</a:t>
            </a:r>
            <a:r>
              <a:rPr lang="zh-CN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供评估人员使用。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程序会生成一个六位数的数字，并将其填入 “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TABCODE ”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旁边的空白处。</a:t>
            </a:r>
            <a:r>
              <a:rPr lang="zh-CN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一旦评估人员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记录了这个数字（例如，在电子病历中），他或她就会触摸 “这里”，然后将平板电脑递给病人。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可以说一句寒暄或一般性鼓励的话（例如：“给你！”或 “尽力而为！”）家属来做，系统不需要语音提示</a:t>
            </a:r>
            <a:r>
              <a:rPr lang="zh-CN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此后，</a:t>
            </a:r>
            <a:r>
              <a:rPr lang="zh-CN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如果评估人员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仍在房间里，则只能发出一般性指示，如 “我不能告诉你任何具体的事情，但请尽力而为 ”或 “如果你不确定该怎么做，可以尝试不同的方法”。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90572" y="90283"/>
            <a:ext cx="45604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每个被评估人员会被分配一个</a:t>
            </a:r>
            <a:r>
              <a:rPr lang="en-US" altLang="zh-CN" dirty="0" smtClean="0"/>
              <a:t>ID</a:t>
            </a:r>
            <a:r>
              <a:rPr lang="zh-CN" altLang="en-US" dirty="0" smtClean="0"/>
              <a:t>，当该代码显示在空白处时，请评估人员按下“开始”按钮，然后由被评估人员使用该工具。</a:t>
            </a:r>
            <a:endParaRPr lang="zh-CN" altLang="en-US" dirty="0" smtClean="0"/>
          </a:p>
          <a:p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不需要开始按钮，老人信息的录入和老人身份识别方式需要再讨论</a:t>
            </a:r>
            <a:endParaRPr lang="zh-CN" altLang="en-US" dirty="0" smtClean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81224" y="2052048"/>
            <a:ext cx="1145893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开始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69712" y="5754469"/>
            <a:ext cx="4109012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开始计时，时间限制在</a:t>
            </a:r>
            <a:r>
              <a:rPr lang="en-US" altLang="zh-CN" dirty="0" smtClean="0"/>
              <a:t>15</a:t>
            </a:r>
            <a:r>
              <a:rPr lang="zh-CN" altLang="en-US" dirty="0" smtClean="0"/>
              <a:t>分钟，即便被评估者没有完成，程序也将自动退出。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697855" y="4052570"/>
            <a:ext cx="3564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理解能力，每题</a:t>
            </a:r>
            <a:r>
              <a:rPr lang="en-US" altLang="zh-CN"/>
              <a:t>2</a:t>
            </a:r>
            <a:r>
              <a:rPr lang="zh-CN" altLang="en-US"/>
              <a:t>分，总共</a:t>
            </a:r>
            <a:r>
              <a:rPr lang="en-US" altLang="zh-CN"/>
              <a:t>6</a:t>
            </a:r>
            <a:r>
              <a:rPr lang="zh-CN" altLang="en-US"/>
              <a:t>分</a:t>
            </a:r>
            <a:r>
              <a:rPr lang="en-US" altLang="zh-CN"/>
              <a:t>  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82880" y="1270000"/>
            <a:ext cx="1193863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如果被评估人员没有</a:t>
            </a:r>
            <a:r>
              <a:rPr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选择任何单词，或者没有选择正确的单词，则右下角会显示该框。</a:t>
            </a:r>
            <a:endParaRPr lang="zh-CN" alt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理解能力的题目必须做对才能进行下一题，因此只能按照老人答对所用的答题次数来判断得分，暂定是超过</a:t>
            </a:r>
            <a:r>
              <a:rPr lang="en-US" altLang="zh-CN" sz="1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zh-CN" altLang="en-US" sz="1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次</a:t>
            </a:r>
            <a:endParaRPr lang="zh-CN" altLang="en-US" sz="17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就是</a:t>
            </a:r>
            <a:r>
              <a:rPr lang="en-US" altLang="zh-CN" sz="1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zh-CN" altLang="en-US" sz="1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分，否则得</a:t>
            </a:r>
            <a:r>
              <a:rPr lang="en-US" altLang="zh-CN" sz="1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1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分</a:t>
            </a:r>
            <a:endParaRPr lang="zh-CN" altLang="en-US" sz="17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140" y="5623560"/>
            <a:ext cx="2601468" cy="777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5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67292" y="4053897"/>
            <a:ext cx="241910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教会改为“寺庙”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如果选择了任何非水果单词，右下角就会显示该框。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408" y="5358384"/>
            <a:ext cx="2743200" cy="1042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67292" y="4053897"/>
            <a:ext cx="241910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教会改为“寺庙”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如果被评估人员未</a:t>
            </a:r>
            <a:r>
              <a:rPr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输入 </a:t>
            </a:r>
            <a:r>
              <a:rPr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1239</a:t>
            </a:r>
            <a:r>
              <a:rPr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，则右下角会显示该框。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137" y="5120640"/>
            <a:ext cx="1789471" cy="1280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81625" y="4414520"/>
            <a:ext cx="2876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图片显示</a:t>
            </a:r>
            <a:r>
              <a:rPr lang="en-US" altLang="zh-CN"/>
              <a:t>2</a:t>
            </a:r>
            <a:r>
              <a:rPr lang="zh-CN" altLang="en-US"/>
              <a:t>秒</a:t>
            </a:r>
            <a:r>
              <a:rPr lang="en-US" altLang="zh-CN"/>
              <a:t>  </a:t>
            </a:r>
            <a:r>
              <a:rPr lang="zh-CN" altLang="en-US"/>
              <a:t>切换</a:t>
            </a:r>
            <a:r>
              <a:rPr lang="en-US" altLang="zh-CN"/>
              <a:t>1</a:t>
            </a:r>
            <a:r>
              <a:rPr lang="zh-CN" altLang="en-US"/>
              <a:t>秒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58410" y="4699322"/>
            <a:ext cx="2141317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寺庙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98653" y="5017624"/>
            <a:ext cx="226863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53919" y="3672597"/>
            <a:ext cx="4339650" cy="369332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回忆一下，你最先读到下表中的哪一句话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972175" y="453834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记忆能力，三小题，每题</a:t>
            </a:r>
            <a:r>
              <a:rPr lang="en-US" altLang="zh-CN"/>
              <a:t>1</a:t>
            </a:r>
            <a:r>
              <a:rPr lang="zh-CN" altLang="en-US"/>
              <a:t>分，一大题，每个选项</a:t>
            </a:r>
            <a:r>
              <a:rPr lang="en-US" altLang="zh-CN"/>
              <a:t>1</a:t>
            </a:r>
            <a:r>
              <a:rPr lang="zh-CN" altLang="en-US"/>
              <a:t>分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没有做出选择的情况下点击了下一步，则右下角会显示该框。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684" y="5312664"/>
            <a:ext cx="1677924" cy="10881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47240" y="3668646"/>
            <a:ext cx="438680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回忆一下，你最先读到下表中的哪一句话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如果被评估人员在没有做出选择的情况下点击了下一步，则右下角会显示该框。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776" y="5620178"/>
            <a:ext cx="2084832" cy="7806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7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7" cy="2743200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没有输入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位数答案的情况下点击了 “下一步”，则右下角会显示该框。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247" y="5157919"/>
            <a:ext cx="1737360" cy="12428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20456" y="3657600"/>
            <a:ext cx="184037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现在是几月份？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486400" y="4557395"/>
            <a:ext cx="3200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定向力，每题</a:t>
            </a:r>
            <a:r>
              <a:rPr lang="en-US" altLang="zh-CN"/>
              <a:t>1</a:t>
            </a:r>
            <a:r>
              <a:rPr lang="zh-CN" altLang="en-US"/>
              <a:t>分，总共</a:t>
            </a:r>
            <a:r>
              <a:rPr lang="en-US" altLang="zh-CN"/>
              <a:t>4</a:t>
            </a:r>
            <a:r>
              <a:rPr lang="zh-CN" altLang="en-US"/>
              <a:t>分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选择月份之前点击了 “下一步”，该框就会显示在右下角。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456" y="5106924"/>
            <a:ext cx="1216152" cy="12938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20456" y="3657600"/>
            <a:ext cx="184037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现在是几月份？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528" y="5125212"/>
            <a:ext cx="1783080" cy="1275588"/>
          </a:xfrm>
          <a:prstGeom prst="rect">
            <a:avLst/>
          </a:prstGeom>
        </p:spPr>
      </p:pic>
      <p:sp>
        <p:nvSpPr>
          <p:cNvPr id="12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没有输入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位数答案的情况下点击了 “下一步”，则右下角会显示该框。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选择日期之前点击了 “下一步”，该框就会显示在右下角。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0108" y="5138928"/>
            <a:ext cx="1714500" cy="12618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250529" y="1539433"/>
            <a:ext cx="55901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我们现在在哪个省（直辖市、特区）？</a:t>
            </a:r>
            <a:endParaRPr lang="en-US" altLang="zh-CN" dirty="0" smtClean="0"/>
          </a:p>
          <a:p>
            <a:r>
              <a:rPr lang="zh-CN" altLang="en-US" dirty="0"/>
              <a:t>北京、天津、河北</a:t>
            </a:r>
            <a:r>
              <a:rPr lang="zh-CN" altLang="en-US" dirty="0" smtClean="0"/>
              <a:t>、吉林、辽宁</a:t>
            </a:r>
            <a:r>
              <a:rPr lang="zh-CN" altLang="en-US" dirty="0"/>
              <a:t>、黑龙江、上海、江苏、浙江、安徽、 福建、山东、河南、湖北、湖南、广东、广西、海南、重庆、四川、 云南、</a:t>
            </a:r>
            <a:r>
              <a:rPr lang="zh-CN" altLang="en-US" dirty="0" smtClean="0"/>
              <a:t>陕西、江西、山西、贵州、甘肃、宁夏、青海、西藏、内蒙古、新疆、台湾、香港、澳门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选择状态之前触摸了 “下一步”，则该框会显示在右下角。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340" y="4928616"/>
            <a:ext cx="1001268" cy="147218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307939" y="3657600"/>
            <a:ext cx="246540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我们现在在那个省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816608" y="102397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CN" altLang="en-US" dirty="0"/>
              <a:t>我们现在在哪个省（直辖市、特区）？</a:t>
            </a:r>
            <a:endParaRPr lang="en-US" altLang="zh-CN" dirty="0"/>
          </a:p>
          <a:p>
            <a:r>
              <a:rPr lang="zh-CN" altLang="en-US" dirty="0"/>
              <a:t>北京、天津、河北、吉林、辽宁、黑龙江、上海、江苏、浙江、安徽、 福建、山东、河南、湖北、湖南、广东、广西、海南、重庆、四川、 云南、陕西、江西、山西、贵州、甘肃、宁夏、青海、西藏、内蒙古、新疆、台湾、香港、澳门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21124" y="4109013"/>
            <a:ext cx="192139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教会改为：寺庙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753100" y="5100320"/>
            <a:ext cx="2543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记忆力，每</a:t>
            </a:r>
            <a:r>
              <a:rPr lang="zh-CN"/>
              <a:t>对一个选项</a:t>
            </a:r>
            <a:r>
              <a:rPr lang="en-US" altLang="zh-CN"/>
              <a:t>1</a:t>
            </a:r>
            <a:r>
              <a:rPr lang="zh-CN" altLang="en-US"/>
              <a:t>分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5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选择五个单词之前点击了 “下一步”，则该方框会显示在右下角。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752" y="5252652"/>
            <a:ext cx="1133856" cy="11481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21124" y="4109013"/>
            <a:ext cx="192139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教会改为：寺庙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5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选择了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&gt; 5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个单词后点击了 “下一步”，该方框就会显示在右下角。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912" y="5280660"/>
            <a:ext cx="996696" cy="11201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21124" y="4109013"/>
            <a:ext cx="192139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教会改为：寺庙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833641" y="3565003"/>
            <a:ext cx="4074288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你带着</a:t>
            </a:r>
            <a:r>
              <a:rPr lang="en-US" altLang="zh-CN" dirty="0" smtClean="0"/>
              <a:t>100</a:t>
            </a:r>
            <a:r>
              <a:rPr lang="zh-CN" altLang="en-US" dirty="0" smtClean="0"/>
              <a:t>块钱去商店，你花</a:t>
            </a:r>
            <a:r>
              <a:rPr lang="en-US" altLang="zh-CN" dirty="0" smtClean="0"/>
              <a:t>7</a:t>
            </a:r>
            <a:r>
              <a:rPr lang="zh-CN" altLang="en-US" dirty="0" smtClean="0"/>
              <a:t>块钱买一盒饼干，花</a:t>
            </a:r>
            <a:r>
              <a:rPr lang="en-US" altLang="zh-CN" dirty="0" smtClean="0"/>
              <a:t>60</a:t>
            </a:r>
            <a:r>
              <a:rPr lang="zh-CN" altLang="en-US" dirty="0" smtClean="0"/>
              <a:t>块钱买牛奶。</a:t>
            </a:r>
            <a:endParaRPr lang="en-US" altLang="zh-CN" dirty="0" smtClean="0"/>
          </a:p>
          <a:p>
            <a:r>
              <a:rPr lang="zh-CN" altLang="en-US" dirty="0" smtClean="0"/>
              <a:t>你花了多少钱</a:t>
            </a:r>
            <a:endParaRPr lang="en-US" altLang="zh-CN" dirty="0" smtClean="0"/>
          </a:p>
          <a:p>
            <a:r>
              <a:rPr lang="zh-CN" altLang="en-US" dirty="0" smtClean="0"/>
              <a:t>这里美元标记改为</a:t>
            </a:r>
            <a:r>
              <a:rPr lang="en-US" altLang="zh-CN" dirty="0"/>
              <a:t>¥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953125" y="5233670"/>
            <a:ext cx="2085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计算力，每题</a:t>
            </a:r>
            <a:r>
              <a:rPr lang="en-US" altLang="zh-CN"/>
              <a:t>1</a:t>
            </a:r>
            <a:r>
              <a:rPr lang="zh-CN" altLang="en-US"/>
              <a:t>分，总共</a:t>
            </a:r>
            <a:r>
              <a:rPr lang="en-US" altLang="zh-CN"/>
              <a:t>3</a:t>
            </a:r>
            <a:r>
              <a:rPr lang="zh-CN" altLang="en-US"/>
              <a:t>分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输入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位数字之前点击了 “下一步”，则该方框会显示在右下角。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528" y="5125212"/>
            <a:ext cx="1783080" cy="1275588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4864608" y="370851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你带着</a:t>
            </a:r>
            <a:r>
              <a:rPr lang="en-US" altLang="zh-CN" dirty="0"/>
              <a:t>100</a:t>
            </a:r>
            <a:r>
              <a:rPr lang="zh-CN" altLang="en-US" dirty="0"/>
              <a:t>块钱去商店，你花</a:t>
            </a:r>
            <a:r>
              <a:rPr lang="en-US" altLang="zh-CN" dirty="0"/>
              <a:t>7</a:t>
            </a:r>
            <a:r>
              <a:rPr lang="zh-CN" altLang="en-US" dirty="0"/>
              <a:t>块钱买一盒饼干，花</a:t>
            </a:r>
            <a:r>
              <a:rPr lang="en-US" altLang="zh-CN" dirty="0"/>
              <a:t>60</a:t>
            </a:r>
            <a:r>
              <a:rPr lang="zh-CN" altLang="en-US" dirty="0"/>
              <a:t>块钱买牛奶。</a:t>
            </a:r>
            <a:endParaRPr lang="en-US" altLang="zh-CN" dirty="0"/>
          </a:p>
          <a:p>
            <a:r>
              <a:rPr lang="zh-CN" altLang="en-US" dirty="0"/>
              <a:t>你花了多少钱</a:t>
            </a:r>
            <a:endParaRPr lang="en-US" altLang="zh-CN" dirty="0"/>
          </a:p>
          <a:p>
            <a:r>
              <a:rPr lang="zh-CN" altLang="en-US" dirty="0"/>
              <a:t>这里美元标记改为</a:t>
            </a:r>
            <a:r>
              <a:rPr lang="en-US" altLang="zh-CN" dirty="0"/>
              <a:t>¥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528" y="5125212"/>
            <a:ext cx="1783080" cy="1275588"/>
          </a:xfrm>
          <a:prstGeom prst="rect">
            <a:avLst/>
          </a:prstGeom>
        </p:spPr>
      </p:pic>
      <p:sp>
        <p:nvSpPr>
          <p:cNvPr id="11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如果被评估人员在输入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位数字之前点击了 “下一步”，则该方框会显示在右下角。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419725" y="4576445"/>
            <a:ext cx="3562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视觉空间能力，，每个</a:t>
            </a:r>
            <a:r>
              <a:rPr lang="en-US" altLang="zh-CN"/>
              <a:t>1</a:t>
            </a:r>
            <a:r>
              <a:rPr lang="zh-CN" altLang="en-US"/>
              <a:t>分，总共</a:t>
            </a:r>
            <a:r>
              <a:rPr lang="en-US" altLang="zh-CN"/>
              <a:t>4</a:t>
            </a:r>
            <a:r>
              <a:rPr lang="zh-CN" altLang="en-US"/>
              <a:t>分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6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选择两幅小图之前点击了 “下一步”，该框就会显示在右下角。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12" y="4992624"/>
            <a:ext cx="1339596" cy="14081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6" name="Title 1"/>
          <p:cNvSpPr txBox="1"/>
          <p:nvPr/>
        </p:nvSpPr>
        <p:spPr>
          <a:xfrm>
            <a:off x="0" y="2035629"/>
            <a:ext cx="1219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选择了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&gt; 2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幅小绘图后点击了 “下一步”，该框就会显示在右下角。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12" y="4992624"/>
            <a:ext cx="1339596" cy="14081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12" y="4992624"/>
            <a:ext cx="1339596" cy="14081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12" y="4992624"/>
            <a:ext cx="1339596" cy="1408176"/>
          </a:xfrm>
          <a:prstGeom prst="rect">
            <a:avLst/>
          </a:prstGeom>
        </p:spPr>
      </p:pic>
      <p:sp>
        <p:nvSpPr>
          <p:cNvPr id="13" name="Title 1"/>
          <p:cNvSpPr txBox="1"/>
          <p:nvPr/>
        </p:nvSpPr>
        <p:spPr>
          <a:xfrm>
            <a:off x="0" y="2035629"/>
            <a:ext cx="1219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选择了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&gt; 2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幅小绘图后点击了 “下一步”，该框就会显示在右下角。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12" y="4992624"/>
            <a:ext cx="1339596" cy="1408176"/>
          </a:xfrm>
          <a:prstGeom prst="rect">
            <a:avLst/>
          </a:prstGeom>
        </p:spPr>
      </p:pic>
      <p:sp>
        <p:nvSpPr>
          <p:cNvPr id="12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选择两幅小图之前点击了 “下一步”，该框就会显示在右下角。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12" y="4992624"/>
            <a:ext cx="1339596" cy="1408176"/>
          </a:xfrm>
          <a:prstGeom prst="rect">
            <a:avLst/>
          </a:prstGeom>
        </p:spPr>
      </p:pic>
      <p:sp>
        <p:nvSpPr>
          <p:cNvPr id="12" name="Title 1"/>
          <p:cNvSpPr txBox="1"/>
          <p:nvPr/>
        </p:nvSpPr>
        <p:spPr>
          <a:xfrm>
            <a:off x="0" y="2035629"/>
            <a:ext cx="1219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选择了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&gt; 2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幅小绘图后点击了 “下一步”，该框就会显示在右下角。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12" y="4992624"/>
            <a:ext cx="1339596" cy="1408176"/>
          </a:xfrm>
          <a:prstGeom prst="rect">
            <a:avLst/>
          </a:prstGeom>
        </p:spPr>
      </p:pic>
      <p:sp>
        <p:nvSpPr>
          <p:cNvPr id="12" name="Title 1"/>
          <p:cNvSpPr txBox="1"/>
          <p:nvPr/>
        </p:nvSpPr>
        <p:spPr>
          <a:xfrm>
            <a:off x="182880" y="2035629"/>
            <a:ext cx="1193887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选择两幅小图之前点击了 “下一步”，该框就会显示在右下角。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12" y="4992624"/>
            <a:ext cx="1339596" cy="1408176"/>
          </a:xfrm>
          <a:prstGeom prst="rect">
            <a:avLst/>
          </a:prstGeom>
        </p:spPr>
      </p:pic>
      <p:sp>
        <p:nvSpPr>
          <p:cNvPr id="12" name="Title 1"/>
          <p:cNvSpPr txBox="1"/>
          <p:nvPr/>
        </p:nvSpPr>
        <p:spPr>
          <a:xfrm>
            <a:off x="0" y="2035629"/>
            <a:ext cx="1219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选择了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&gt; 2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幅小绘图后点击了 “下一步”，该框就会显示在右下角。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20878"/>
            <a:ext cx="20710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0" y="1747777"/>
            <a:ext cx="12192000" cy="2675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实际的十二个不一致的斯特鲁普刺激的引导词是三个非颜色词，它们不计分。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688" y="5125212"/>
            <a:ext cx="1645920" cy="1275588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0" y="2035629"/>
            <a:ext cx="1219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做出选择之前点击了 “下一步”，该框就会显示在右下角。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0" y="2035629"/>
            <a:ext cx="12192000" cy="2044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如果被评估人员选择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错误，右下角就会显示该方框。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688" y="5125212"/>
            <a:ext cx="1645920" cy="1275588"/>
          </a:xfrm>
          <a:prstGeom prst="rect">
            <a:avLst/>
          </a:prstGeom>
        </p:spPr>
      </p:pic>
      <p:sp>
        <p:nvSpPr>
          <p:cNvPr id="11" name="Title 1"/>
          <p:cNvSpPr txBox="1"/>
          <p:nvPr/>
        </p:nvSpPr>
        <p:spPr>
          <a:xfrm>
            <a:off x="182880" y="474562"/>
            <a:ext cx="12192000" cy="17167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注意：对于所有题目（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个练习题目，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12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个斯特鲁普题目），选择错误并点击“下一步”将计为错误。但是，引导至斯特鲁普任务的三个非颜色词（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12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个题目；所有题目颜色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单词均不匹配）不得分。在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12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个斯特鲁普题目中，每个错误都会扣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分（最多扣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分）。即使出现错误，您也必须选择正确的选项才能继续。这样，任何关于任务目标的疑问都会立即得到纠正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强化。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……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无论如何，所有练习和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Stroop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项目都有相同的红色警告框，</a:t>
            </a:r>
            <a:r>
              <a:rPr lang="zh-CN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所以这里不会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一遍又一遍地展示它们。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0" y="2035629"/>
            <a:ext cx="1219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实际的十二个不一致的斯特鲁普刺激的引导词是三个非颜色词，它们不计分。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0" y="2035629"/>
            <a:ext cx="1219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实际的十二个不一致的斯特鲁普刺激的引导词是三个非颜色词，它们不计分。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0" y="2035629"/>
            <a:ext cx="1219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从这个屏幕开始，这些才是真正不一致的 斯普鲁</a:t>
            </a:r>
            <a:r>
              <a:rPr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题</a:t>
            </a:r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，开始进行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评分。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53050" y="4643120"/>
            <a:ext cx="31718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执行功能</a:t>
            </a:r>
            <a:r>
              <a:rPr lang="en-US" altLang="zh-CN"/>
              <a:t>  </a:t>
            </a:r>
            <a:r>
              <a:rPr lang="zh-CN" altLang="en-US"/>
              <a:t>总共</a:t>
            </a:r>
            <a:r>
              <a:rPr lang="en-US" altLang="zh-CN"/>
              <a:t>12</a:t>
            </a:r>
            <a:r>
              <a:rPr lang="zh-CN" altLang="en-US"/>
              <a:t>个，全对</a:t>
            </a:r>
            <a:r>
              <a:rPr lang="en-US" altLang="zh-CN"/>
              <a:t>3</a:t>
            </a:r>
            <a:r>
              <a:rPr lang="zh-CN" altLang="en-US"/>
              <a:t>分</a:t>
            </a:r>
            <a:endParaRPr lang="zh-CN" altLang="en-US"/>
          </a:p>
          <a:p>
            <a:r>
              <a:rPr lang="zh-CN" altLang="en-US"/>
              <a:t>错</a:t>
            </a:r>
            <a:r>
              <a:rPr lang="en-US" altLang="zh-CN"/>
              <a:t>1</a:t>
            </a:r>
            <a:r>
              <a:rPr lang="zh-CN" altLang="en-US"/>
              <a:t>个</a:t>
            </a:r>
            <a:r>
              <a:rPr lang="en-US" altLang="zh-CN"/>
              <a:t>  2</a:t>
            </a:r>
            <a:r>
              <a:rPr lang="zh-CN" altLang="en-US"/>
              <a:t>分</a:t>
            </a:r>
            <a:endParaRPr lang="zh-CN" altLang="en-US"/>
          </a:p>
          <a:p>
            <a:r>
              <a:rPr lang="zh-CN" altLang="en-US"/>
              <a:t>错</a:t>
            </a:r>
            <a:r>
              <a:rPr lang="en-US" altLang="zh-CN"/>
              <a:t>2</a:t>
            </a:r>
            <a:r>
              <a:rPr lang="zh-CN" altLang="en-US"/>
              <a:t>个</a:t>
            </a:r>
            <a:r>
              <a:rPr lang="en-US" altLang="zh-CN"/>
              <a:t>  1</a:t>
            </a:r>
            <a:r>
              <a:rPr lang="zh-CN" altLang="en-US"/>
              <a:t>分</a:t>
            </a:r>
            <a:endParaRPr lang="zh-CN" altLang="en-US"/>
          </a:p>
          <a:p>
            <a:r>
              <a:rPr lang="zh-CN" altLang="en-US"/>
              <a:t>超过</a:t>
            </a:r>
            <a:r>
              <a:rPr lang="en-US" altLang="zh-CN"/>
              <a:t>2</a:t>
            </a:r>
            <a:r>
              <a:rPr lang="zh-CN" altLang="en-US"/>
              <a:t>个</a:t>
            </a:r>
            <a:r>
              <a:rPr lang="en-US" altLang="zh-CN"/>
              <a:t>  0</a:t>
            </a:r>
            <a:r>
              <a:rPr lang="zh-CN" altLang="en-US"/>
              <a:t>分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0" y="2035629"/>
            <a:ext cx="1219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如果被评估人员出现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任何错误，他或她就会失去在这项任务中可以获得的唯一分数</a:t>
            </a:r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即使被评估人员出错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，他或她仍必须按顺序完成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到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，然后点击 “下一步”。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81600" y="4700270"/>
            <a:ext cx="2847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执行能力，每题</a:t>
            </a:r>
            <a:r>
              <a:rPr lang="en-US" altLang="zh-CN"/>
              <a:t>1</a:t>
            </a:r>
            <a:r>
              <a:rPr lang="zh-CN" altLang="en-US"/>
              <a:t>分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596" y="5742432"/>
            <a:ext cx="1174012" cy="658368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0" y="2035629"/>
            <a:ext cx="1219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如果被评估人员在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按顺序连接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至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之前点击了 “下一步”，则会显示此错误信息。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0" y="2035629"/>
            <a:ext cx="1219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如果被评估人员犯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了任何错误，他或她就会失去在这项任务中可以获得的唯一分数</a:t>
            </a:r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即使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出现错误</a:t>
            </a:r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，被评估人员也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必须完成任务，然后点击 “下一步”。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596" y="5742432"/>
            <a:ext cx="1174012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657600"/>
            <a:ext cx="468172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2532</Words>
  <Application>WPS 演示</Application>
  <PresentationFormat>自定义</PresentationFormat>
  <Paragraphs>150</Paragraphs>
  <Slides>81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91" baseType="lpstr">
      <vt:lpstr>Arial</vt:lpstr>
      <vt:lpstr>宋体</vt:lpstr>
      <vt:lpstr>Wingdings</vt:lpstr>
      <vt:lpstr>等线 Light</vt:lpstr>
      <vt:lpstr>微软雅黑</vt:lpstr>
      <vt:lpstr>Arial Unicode MS</vt:lpstr>
      <vt:lpstr>Calibri Light</vt:lpstr>
      <vt:lpstr>Calibri</vt:lpstr>
      <vt:lpstr>等线</vt:lpstr>
      <vt:lpstr>Office Theme</vt:lpstr>
      <vt:lpstr>SATURN  认知障碍筛查  版权所有：南京南德认知健康科技有限公司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SATURN  and (draft) translations</dc:title>
  <dc:creator>Dave</dc:creator>
  <cp:lastModifiedBy>瑞</cp:lastModifiedBy>
  <cp:revision>186</cp:revision>
  <dcterms:created xsi:type="dcterms:W3CDTF">2020-01-22T02:31:00Z</dcterms:created>
  <dcterms:modified xsi:type="dcterms:W3CDTF">2025-07-02T01:40:20Z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EE79C831B1954E6FA142617242879318_13</vt:lpwstr>
  </property>
  <property fmtid="{D5CDD505-2E9C-101B-9397-08002B2CF9AE}" pid="3" name="KSOProductBuildVer">
    <vt:lpwstr>2052-12.1.0.21541</vt:lpwstr>
  </property>
</Properties>
</file>